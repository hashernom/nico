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61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79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402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434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525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711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68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2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599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8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902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CACED-39FB-463F-81DD-94E91D9EFA0F}" type="datetimeFigureOut">
              <a:rPr lang="es-ES" smtClean="0"/>
              <a:t>21/08/2025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0AF57-AE64-4E51-BFB8-AD9DEFAD47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33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476672"/>
            <a:ext cx="7772400" cy="1470025"/>
          </a:xfrm>
        </p:spPr>
        <p:txBody>
          <a:bodyPr>
            <a:normAutofit/>
          </a:bodyPr>
          <a:lstStyle/>
          <a:p>
            <a:r>
              <a:rPr lang="es-ES" sz="2800" b="1" i="1" dirty="0" smtClean="0"/>
              <a:t>ECUACIONES DIFERENCIALES DE PRIMER ORDEN</a:t>
            </a:r>
            <a:endParaRPr lang="es-ES" sz="2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3528" y="1556792"/>
                <a:ext cx="8280920" cy="4176464"/>
              </a:xfrm>
            </p:spPr>
            <p:txBody>
              <a:bodyPr>
                <a:normAutofit/>
              </a:bodyPr>
              <a:lstStyle/>
              <a:p>
                <a:r>
                  <a:rPr lang="es-ES" sz="2400" b="1" dirty="0" smtClean="0">
                    <a:solidFill>
                      <a:schemeClr val="tx1"/>
                    </a:solidFill>
                  </a:rPr>
                  <a:t>VARIABLES SEPARABLES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s-ES" sz="2400" u="sng" dirty="0" smtClean="0">
                    <a:solidFill>
                      <a:schemeClr val="tx1"/>
                    </a:solidFill>
                  </a:rPr>
                  <a:t>integración directa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endParaRPr lang="es-ES" sz="2400" u="sng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Considere la ecuación diferencial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Si la función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no depende de la variable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es-ES" sz="2400" b="0" i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entonces la ecuación puede resolverse integrando ambos lados con respecto a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3528" y="1556792"/>
                <a:ext cx="8280920" cy="4176464"/>
              </a:xfrm>
              <a:blipFill rotWithShape="1">
                <a:blip r:embed="rId2"/>
                <a:stretch>
                  <a:fillRect l="-1105" t="-1168" r="-117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9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404664"/>
            <a:ext cx="7772400" cy="1470025"/>
          </a:xfrm>
        </p:spPr>
        <p:txBody>
          <a:bodyPr/>
          <a:lstStyle/>
          <a:p>
            <a:r>
              <a:rPr lang="es-ES" b="1" dirty="0"/>
              <a:t>E</a:t>
            </a:r>
            <a:r>
              <a:rPr lang="es-ES" b="1" dirty="0" smtClean="0"/>
              <a:t>jemplos</a:t>
            </a:r>
            <a:endParaRPr lang="es-E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27584" y="1772816"/>
                <a:ext cx="7704856" cy="3816424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dirty="0" smtClean="0">
                    <a:solidFill>
                      <a:schemeClr val="tx1"/>
                    </a:solidFill>
                  </a:rPr>
                  <a:t>Resolver las siguientes ecuaciones diferenciales:</a:t>
                </a: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;   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=1</m:t>
                    </m:r>
                  </m:oMath>
                </a14:m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sup>
                    </m:sSup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;    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=1</m:t>
                    </m:r>
                  </m:oMath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27584" y="1772816"/>
                <a:ext cx="7704856" cy="3816424"/>
              </a:xfrm>
              <a:blipFill rotWithShape="1">
                <a:blip r:embed="rId2"/>
                <a:stretch>
                  <a:fillRect l="-126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14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27584" y="404664"/>
            <a:ext cx="7772400" cy="1470025"/>
          </a:xfrm>
        </p:spPr>
        <p:txBody>
          <a:bodyPr>
            <a:normAutofit/>
          </a:bodyPr>
          <a:lstStyle/>
          <a:p>
            <a:r>
              <a:rPr lang="es-ES" sz="3200" b="1" i="1" dirty="0" smtClean="0"/>
              <a:t>ECUACIÓN</a:t>
            </a:r>
            <a:r>
              <a:rPr lang="es-ES" sz="3200" b="1" dirty="0" smtClean="0"/>
              <a:t> SEPARABLE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5576" y="1700808"/>
                <a:ext cx="7632848" cy="3888432"/>
              </a:xfrm>
            </p:spPr>
            <p:txBody>
              <a:bodyPr>
                <a:normAutofit fontScale="92500"/>
              </a:bodyPr>
              <a:lstStyle/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Si el segundo miembro de la ecuación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Se puede expresar como una función que dependa solamente 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, multiplicada por una función que dependa solamente 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; entonces, la ecuación diferencial se llama separable.</a:t>
                </a: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De manera que es separable si se puede  escribir en la forma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5576" y="1700808"/>
                <a:ext cx="7632848" cy="3888432"/>
              </a:xfrm>
              <a:blipFill rotWithShape="1">
                <a:blip r:embed="rId2"/>
                <a:stretch>
                  <a:fillRect l="-1038" t="-940" r="-10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18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1470025"/>
          </a:xfrm>
        </p:spPr>
        <p:txBody>
          <a:bodyPr>
            <a:normAutofit/>
          </a:bodyPr>
          <a:lstStyle/>
          <a:p>
            <a:r>
              <a:rPr lang="es-ES" sz="2800" b="1" i="1" dirty="0" smtClean="0"/>
              <a:t>MÉTODO DE SOLUCIÓN</a:t>
            </a:r>
            <a:endParaRPr lang="es-ES" sz="2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5576" y="1556792"/>
                <a:ext cx="7416824" cy="432048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La ecuación anterior puede escribirse en la forma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𝑑𝑥</m:t>
                      </m:r>
                      <m:groupChr>
                        <m:groupChrPr>
                          <m:chr m:val="⇒"/>
                          <m:pos m:val="top"/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groupChrPr>
                        <m:e/>
                      </m:groupCh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𝑑𝑦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𝑑𝑥</m:t>
                      </m:r>
                    </m:oMath>
                  </m:oMathPara>
                </a14:m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Integrando ambos lados de esta ecuación: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𝑑𝑦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𝑑𝑥</m:t>
                              </m:r>
                              <m:groupChr>
                                <m:groupChrPr>
                                  <m:chr m:val="⇒"/>
                                  <m:pos m:val="top"/>
                                  <m:ctrlP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groupChrPr>
                                <m:e/>
                              </m:groupChr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s-E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5576" y="1556792"/>
                <a:ext cx="7416824" cy="4320480"/>
              </a:xfrm>
              <a:blipFill rotWithShape="1">
                <a:blip r:embed="rId2"/>
                <a:stretch>
                  <a:fillRect l="-1315" t="-11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34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04665"/>
            <a:ext cx="7772400" cy="936104"/>
          </a:xfrm>
        </p:spPr>
        <p:txBody>
          <a:bodyPr>
            <a:normAutofit/>
          </a:bodyPr>
          <a:lstStyle/>
          <a:p>
            <a:r>
              <a:rPr lang="es-ES" sz="3600" b="1" dirty="0"/>
              <a:t>E</a:t>
            </a:r>
            <a:r>
              <a:rPr lang="es-ES" sz="3600" b="1" dirty="0" smtClean="0"/>
              <a:t>jemplo</a:t>
            </a:r>
            <a:endParaRPr lang="es-E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5576" y="1268760"/>
                <a:ext cx="7560840" cy="482453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Resolver las siguientes ecuaciones:</a:t>
                </a:r>
              </a:p>
              <a:p>
                <a:pPr algn="just"/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𝑥𝑦</m:t>
                    </m:r>
                  </m:oMath>
                </a14:m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𝑠𝑒𝑛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s-E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𝑑𝑥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+2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𝑐𝑜𝑠</m:t>
                        </m:r>
                      </m:e>
                      <m: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𝑦𝑙𝑛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num>
                      <m:den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𝑑𝑦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s-E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s-E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s-E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den>
                    </m:f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;         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</m:oMath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5576" y="1268760"/>
                <a:ext cx="7560840" cy="4824536"/>
              </a:xfrm>
              <a:blipFill rotWithShape="1">
                <a:blip r:embed="rId2"/>
                <a:stretch>
                  <a:fillRect l="-1290" t="-101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19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470025"/>
          </a:xfrm>
        </p:spPr>
        <p:txBody>
          <a:bodyPr>
            <a:normAutofit/>
          </a:bodyPr>
          <a:lstStyle/>
          <a:p>
            <a:r>
              <a:rPr lang="es-ES" sz="2800" b="1" i="1" dirty="0" smtClean="0"/>
              <a:t>ECUACIONES DIFERENCIALES HOMOGÉNEAS</a:t>
            </a:r>
            <a:endParaRPr lang="es-ES" sz="2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11560" y="1988840"/>
                <a:ext cx="7848872" cy="4176464"/>
              </a:xfrm>
            </p:spPr>
            <p:txBody>
              <a:bodyPr>
                <a:normAutofit fontScale="92500"/>
              </a:bodyPr>
              <a:lstStyle/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Una ecuación diferencial de primer orden de la forma</a:t>
                </a:r>
              </a:p>
              <a:p>
                <a:pPr algn="just"/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𝑑𝑥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𝑑𝑦</m:t>
                      </m:r>
                      <m:r>
                        <a:rPr lang="es-E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Con la propiedad de que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𝑡𝑦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400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𝑡𝑦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se llama ecuación diferencial homogénea de grado n.</a:t>
                </a:r>
              </a:p>
              <a:p>
                <a:pPr algn="just"/>
                <a:endParaRPr lang="es-ES" sz="2400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Otra forma de verificar si una ecuación es homogénea es examinando el grado de cada término de las funciones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𝑀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si todos los términos son del mismo grado la ecuación es homogénea.</a:t>
                </a:r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11560" y="1988840"/>
                <a:ext cx="7848872" cy="4176464"/>
              </a:xfrm>
              <a:blipFill rotWithShape="1">
                <a:blip r:embed="rId2"/>
                <a:stretch>
                  <a:fillRect l="-932" t="-876" r="-1009" b="-146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7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260648"/>
            <a:ext cx="7772400" cy="1470025"/>
          </a:xfrm>
        </p:spPr>
        <p:txBody>
          <a:bodyPr>
            <a:normAutofit/>
          </a:bodyPr>
          <a:lstStyle/>
          <a:p>
            <a:r>
              <a:rPr lang="es-ES" sz="3200" b="1" dirty="0" smtClean="0"/>
              <a:t>Ejemplos 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27584" y="1844824"/>
                <a:ext cx="6944816" cy="3793976"/>
              </a:xfrm>
            </p:spPr>
            <p:txBody>
              <a:bodyPr/>
              <a:lstStyle/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𝑦𝑑𝑥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</m:sup>
                        </m:s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s-ES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:endParaRPr lang="es-ES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𝑥𝑦𝑑𝑥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</m:oMath>
                </a14:m>
                <a:endParaRPr lang="es-ES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:endParaRPr lang="es-ES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+2</m:t>
                        </m:r>
                        <m:r>
                          <a:rPr lang="es-E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𝑑𝑥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+2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𝑥𝑑𝑦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27584" y="1844824"/>
                <a:ext cx="6944816" cy="379397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32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88640"/>
            <a:ext cx="7772400" cy="1470025"/>
          </a:xfrm>
        </p:spPr>
        <p:txBody>
          <a:bodyPr>
            <a:normAutofit/>
          </a:bodyPr>
          <a:lstStyle/>
          <a:p>
            <a:r>
              <a:rPr lang="es-ES" sz="2800" b="1" i="1" dirty="0" smtClean="0"/>
              <a:t>MÉTODO DE SOLUCIÓN</a:t>
            </a:r>
            <a:endParaRPr lang="es-ES" sz="2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5576" y="1484784"/>
                <a:ext cx="7704856" cy="460851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Si la ecuación es homogénea puede reducirse a una ecuación de variables separables usando cualquiera de las siguientes sustituciones:</a:t>
                </a:r>
              </a:p>
              <a:p>
                <a:pPr algn="just"/>
                <a:endParaRPr lang="es-E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𝑢𝑥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     o        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𝑣𝑦</m:t>
                    </m:r>
                  </m:oMath>
                </a14:m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𝑥𝑑𝑢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𝑢𝑑𝑥</m:t>
                    </m:r>
                  </m:oMath>
                </a14:m>
                <a:r>
                  <a:rPr lang="es-ES" sz="2400" dirty="0" smtClean="0">
                    <a:solidFill>
                      <a:schemeClr val="tx1"/>
                    </a:solidFill>
                  </a:rPr>
                  <a:t>      o       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𝑑𝑥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𝑦𝑑𝑣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𝑣𝑑𝑦</m:t>
                    </m:r>
                  </m:oMath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5576" y="1484784"/>
                <a:ext cx="7704856" cy="4608512"/>
              </a:xfrm>
              <a:blipFill rotWithShape="1">
                <a:blip r:embed="rId2"/>
                <a:stretch>
                  <a:fillRect l="-1266" t="-1058" r="-118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70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2" y="332656"/>
            <a:ext cx="7772400" cy="1470025"/>
          </a:xfrm>
        </p:spPr>
        <p:txBody>
          <a:bodyPr>
            <a:normAutofit/>
          </a:bodyPr>
          <a:lstStyle/>
          <a:p>
            <a:r>
              <a:rPr lang="es-ES" sz="3600" b="1" i="1" dirty="0" smtClean="0"/>
              <a:t>ECUACIONES DIFERENCIALES EXACTAS</a:t>
            </a:r>
            <a:endParaRPr lang="es-ES" sz="36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55576" y="1772816"/>
                <a:ext cx="7776864" cy="417646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200" dirty="0" smtClean="0">
                    <a:solidFill>
                      <a:schemeClr val="tx1"/>
                    </a:solidFill>
                  </a:rPr>
                  <a:t>Sea una función de dos variables </a:t>
                </a:r>
                <a14:m>
                  <m:oMath xmlns:m="http://schemas.openxmlformats.org/officeDocument/2006/math"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𝑧</m:t>
                    </m:r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sz="2200" dirty="0" smtClean="0">
                    <a:solidFill>
                      <a:schemeClr val="tx1"/>
                    </a:solidFill>
                  </a:rPr>
                  <a:t>, el diferencial total de la función está definido.</a:t>
                </a:r>
              </a:p>
              <a:p>
                <a14:m>
                  <m:oMath xmlns:m="http://schemas.openxmlformats.org/officeDocument/2006/math"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𝑑𝑧</m:t>
                    </m:r>
                  </m:oMath>
                </a14:m>
                <a:r>
                  <a:rPr lang="es-ES" sz="22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2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20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𝑓</m:t>
                        </m:r>
                      </m:num>
                      <m:den>
                        <m:r>
                          <a:rPr lang="es-ES" sz="220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den>
                    </m:f>
                    <m:r>
                      <a:rPr lang="es-ES" sz="22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𝑑𝑥</m:t>
                    </m:r>
                    <m:r>
                      <a:rPr lang="es-ES" sz="22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𝑓</m:t>
                        </m:r>
                      </m:num>
                      <m:den>
                        <m: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s-ES" sz="22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den>
                    </m:f>
                    <m:r>
                      <a:rPr lang="es-ES" sz="22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</m:oMath>
                </a14:m>
                <a:endParaRPr lang="es-ES" sz="220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200" dirty="0" smtClean="0">
                    <a:solidFill>
                      <a:schemeClr val="tx1"/>
                    </a:solidFill>
                  </a:rPr>
                  <a:t>Si partimos entonces de la ecuación de las curvas de nivel de esa superficie </a:t>
                </a:r>
                <a14:m>
                  <m:oMath xmlns:m="http://schemas.openxmlformats.org/officeDocument/2006/math"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𝑐</m:t>
                    </m:r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</m:oMath>
                </a14:m>
                <a:r>
                  <a:rPr lang="es-ES" sz="2200" dirty="0" smtClean="0">
                    <a:solidFill>
                      <a:schemeClr val="tx1"/>
                    </a:solidFill>
                  </a:rPr>
                  <a:t>entonces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num>
                        <m:den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den>
                      </m:f>
                      <m:r>
                        <a:rPr lang="es-ES" sz="2200" i="1" dirty="0">
                          <a:solidFill>
                            <a:schemeClr val="tx1"/>
                          </a:solidFill>
                          <a:latin typeface="Cambria Math"/>
                        </a:rPr>
                        <m:t>𝑑𝑥</m:t>
                      </m:r>
                      <m:r>
                        <a:rPr lang="es-ES" sz="2200" i="1" dirty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num>
                        <m:den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𝑦</m:t>
                          </m:r>
                        </m:den>
                      </m:f>
                      <m:r>
                        <a:rPr lang="es-ES" sz="2200" i="1" dirty="0">
                          <a:solidFill>
                            <a:schemeClr val="tx1"/>
                          </a:solidFill>
                          <a:latin typeface="Cambria Math"/>
                        </a:rPr>
                        <m:t>𝑑𝑦</m:t>
                      </m:r>
                      <m:r>
                        <a:rPr lang="es-ES" sz="22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ES" sz="2200" b="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200" dirty="0" smtClean="0">
                    <a:solidFill>
                      <a:schemeClr val="tx1"/>
                    </a:solidFill>
                  </a:rPr>
                  <a:t>Una ecuación diferencial de primer orden de la forma</a:t>
                </a:r>
              </a:p>
              <a:p>
                <a:pPr algn="just"/>
                <a:endParaRPr lang="es-ES" sz="22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ctrlP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𝑑𝑥</m:t>
                      </m:r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𝑑𝑦</m:t>
                      </m:r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ES" sz="22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200" b="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400" dirty="0">
                  <a:solidFill>
                    <a:schemeClr val="tx1"/>
                  </a:solidFill>
                </a:endParaRPr>
              </a:p>
              <a:p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55576" y="1772816"/>
                <a:ext cx="7776864" cy="4176464"/>
              </a:xfrm>
              <a:blipFill rotWithShape="1">
                <a:blip r:embed="rId2"/>
                <a:stretch>
                  <a:fillRect l="-1019" t="-876" r="-101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81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11560" y="836712"/>
                <a:ext cx="7848872" cy="554461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200" dirty="0" smtClean="0">
                    <a:solidFill>
                      <a:schemeClr val="tx1"/>
                    </a:solidFill>
                  </a:rPr>
                  <a:t>Se llama ecuación diferencial exacta, si existe una función </a:t>
                </a:r>
                <a14:m>
                  <m:oMath xmlns:m="http://schemas.openxmlformats.org/officeDocument/2006/math"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" sz="2200" dirty="0" smtClean="0">
                    <a:solidFill>
                      <a:schemeClr val="tx1"/>
                    </a:solidFill>
                  </a:rPr>
                  <a:t> tal que:</a:t>
                </a:r>
              </a:p>
              <a:p>
                <a:pPr algn="just"/>
                <a:endParaRPr lang="es-ES" sz="22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num>
                        <m:den>
                          <m:r>
                            <a:rPr lang="es-ES" sz="22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den>
                      </m:f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ctrlP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" sz="2200" b="0" dirty="0" smtClean="0">
                  <a:solidFill>
                    <a:schemeClr val="tx1"/>
                  </a:solidFill>
                </a:endParaRPr>
              </a:p>
              <a:p>
                <a:endParaRPr lang="es-ES" sz="22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num>
                        <m:den>
                          <m: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𝑦</m:t>
                          </m:r>
                        </m:den>
                      </m:f>
                      <m:r>
                        <a:rPr lang="es-ES" sz="22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s-ES" sz="2200" b="0" dirty="0" smtClean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s-ES" sz="2200" b="1" dirty="0" smtClean="0">
                    <a:solidFill>
                      <a:schemeClr val="tx1"/>
                    </a:solidFill>
                  </a:rPr>
                  <a:t>CRITERIO DE EXACTITUD</a:t>
                </a:r>
              </a:p>
              <a:p>
                <a:pPr algn="just"/>
                <a:r>
                  <a:rPr lang="es-ES" sz="2200" dirty="0" smtClean="0">
                    <a:solidFill>
                      <a:schemeClr val="tx1"/>
                    </a:solidFill>
                  </a:rPr>
                  <a:t>El criterio para determinar si la ecuación diferencial es exacta es que:</a:t>
                </a:r>
              </a:p>
              <a:p>
                <a:pPr algn="just"/>
                <a:endParaRPr lang="es-ES" sz="2200" dirty="0">
                  <a:solidFill>
                    <a:schemeClr val="tx1"/>
                  </a:solidFill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𝑀</m:t>
                          </m:r>
                        </m:num>
                        <m:den>
                          <m:r>
                            <a:rPr lang="es-ES" sz="22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𝑦</m:t>
                          </m:r>
                        </m:den>
                      </m:f>
                      <m:r>
                        <a:rPr lang="es-ES" sz="2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𝑁</m:t>
                          </m:r>
                        </m:num>
                        <m:den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s-ES" sz="2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2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200" dirty="0">
                  <a:solidFill>
                    <a:schemeClr val="tx1"/>
                  </a:solidFill>
                </a:endParaRPr>
              </a:p>
              <a:p>
                <a:pPr algn="just"/>
                <a:endParaRPr lang="es-ES" sz="22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200" b="0" dirty="0" smtClean="0">
                  <a:solidFill>
                    <a:schemeClr val="tx1"/>
                  </a:solidFill>
                </a:endParaRPr>
              </a:p>
              <a:p>
                <a:endParaRPr lang="es-ES" sz="2200" dirty="0" smtClean="0">
                  <a:solidFill>
                    <a:schemeClr val="tx1"/>
                  </a:solidFill>
                </a:endParaRPr>
              </a:p>
              <a:p>
                <a:endParaRPr lang="es-E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11560" y="836712"/>
                <a:ext cx="7848872" cy="5544616"/>
              </a:xfrm>
              <a:blipFill rotWithShape="1">
                <a:blip r:embed="rId2"/>
                <a:stretch>
                  <a:fillRect l="-932" t="-659" r="-10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90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67544" y="332656"/>
                <a:ext cx="7920880" cy="568863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200" b="1" dirty="0" smtClean="0">
                    <a:solidFill>
                      <a:schemeClr val="tx1"/>
                    </a:solidFill>
                  </a:rPr>
                  <a:t>MÉTODO DE SOLUCIÓN</a:t>
                </a:r>
              </a:p>
              <a:p>
                <a:pPr algn="just"/>
                <a:endParaRPr lang="es-ES" sz="2200" b="1" dirty="0">
                  <a:solidFill>
                    <a:schemeClr val="tx1"/>
                  </a:solidFill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𝑴</m:t>
                          </m:r>
                          <m:d>
                            <m:dPr>
                              <m:ctrlP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𝒉</m:t>
                      </m:r>
                      <m:d>
                        <m:d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s-ES" sz="2200" b="1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2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𝒅𝒇</m:t>
                          </m:r>
                        </m:num>
                        <m:den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𝒅𝒚</m:t>
                          </m:r>
                        </m:den>
                      </m:f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𝒅𝒑</m:t>
                          </m:r>
                        </m:num>
                        <m:den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𝒅𝒚</m:t>
                          </m:r>
                        </m:den>
                      </m:f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𝒅𝒉</m:t>
                          </m:r>
                        </m:num>
                        <m:den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𝒅𝒚</m:t>
                          </m:r>
                        </m:den>
                      </m:f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f>
                        <m:f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𝒅𝒉</m:t>
                          </m:r>
                        </m:num>
                        <m:den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𝒅𝒚</m:t>
                          </m:r>
                        </m:den>
                      </m:f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𝑵</m:t>
                      </m:r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𝒅𝒑</m:t>
                          </m:r>
                        </m:num>
                        <m:den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𝒅𝒚</m:t>
                          </m:r>
                        </m:den>
                      </m:f>
                    </m:oMath>
                  </m:oMathPara>
                </a14:m>
                <a:endParaRPr lang="es-ES" sz="2200" b="1" dirty="0" smtClean="0">
                  <a:solidFill>
                    <a:schemeClr val="tx1"/>
                  </a:solidFill>
                  <a:ea typeface="Cambria Math"/>
                </a:endParaRPr>
              </a:p>
              <a:p>
                <a:endParaRPr lang="es-ES" sz="2200" b="1" dirty="0" smtClean="0">
                  <a:solidFill>
                    <a:schemeClr val="tx1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s-ES" sz="22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𝑵</m:t>
                              </m:r>
                              <m:r>
                                <a:rPr lang="es-ES" sz="22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" sz="22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sz="22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𝒅𝒑</m:t>
                                  </m:r>
                                </m:num>
                                <m:den>
                                  <m:r>
                                    <a:rPr lang="es-ES" sz="22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𝒅𝒚</m:t>
                                  </m:r>
                                </m:den>
                              </m:f>
                            </m:e>
                          </m:d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𝒅𝒚</m:t>
                          </m:r>
                        </m:e>
                      </m:nary>
                    </m:oMath>
                  </m:oMathPara>
                </a14:m>
                <a:endParaRPr lang="es-ES" sz="2200" b="1" dirty="0" smtClean="0">
                  <a:solidFill>
                    <a:schemeClr val="tx1"/>
                  </a:solidFill>
                </a:endParaRPr>
              </a:p>
              <a:p>
                <a:endParaRPr lang="es-ES" sz="22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>
                          <a:solidFill>
                            <a:schemeClr val="tx1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s-ES" sz="2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sz="2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s-ES" sz="2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s-ES" sz="2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s-ES" sz="2200" b="1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2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2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sz="22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𝑵</m:t>
                              </m:r>
                              <m:r>
                                <a:rPr lang="es-ES" sz="22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" sz="22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sz="22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𝒅𝒑</m:t>
                                  </m:r>
                                </m:num>
                                <m:den>
                                  <m:r>
                                    <a:rPr lang="es-ES" sz="22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𝒅𝒚</m:t>
                                  </m:r>
                                </m:den>
                              </m:f>
                            </m:e>
                          </m:d>
                          <m:r>
                            <a:rPr lang="es-ES" sz="22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𝒅𝒚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s-ES" sz="22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</m:nary>
                    </m:oMath>
                  </m:oMathPara>
                </a14:m>
                <a:endParaRPr lang="es-E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67544" y="332656"/>
                <a:ext cx="7920880" cy="5688632"/>
              </a:xfrm>
              <a:blipFill rotWithShape="1">
                <a:blip r:embed="rId2"/>
                <a:stretch>
                  <a:fillRect l="-1001" t="-6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69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04665"/>
            <a:ext cx="7772400" cy="936104"/>
          </a:xfrm>
        </p:spPr>
        <p:txBody>
          <a:bodyPr>
            <a:normAutofit/>
          </a:bodyPr>
          <a:lstStyle/>
          <a:p>
            <a:r>
              <a:rPr lang="es-ES" sz="3600" b="1" dirty="0"/>
              <a:t>E</a:t>
            </a:r>
            <a:r>
              <a:rPr lang="es-ES" sz="3600" b="1" dirty="0" smtClean="0"/>
              <a:t>jemplo</a:t>
            </a:r>
            <a:endParaRPr lang="es-E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Subtítulo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39552" y="1268760"/>
                <a:ext cx="8280920" cy="482453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ES" sz="2400" dirty="0" smtClean="0">
                    <a:solidFill>
                      <a:schemeClr val="tx1"/>
                    </a:solidFill>
                  </a:rPr>
                  <a:t>Determine si la ecuación dada es exacta, si lo es resuélvela</a:t>
                </a:r>
              </a:p>
              <a:p>
                <a:pPr algn="just"/>
                <a:endParaRPr lang="es-ES" sz="240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5</m:t>
                        </m:r>
                        <m:sSup>
                          <m:sSupPr>
                            <m:ctrlP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</m:sup>
                        </m:sSup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−6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sSup>
                          <m:sSupPr>
                            <m:ctrlP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</m:sup>
                        </m:sSup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+2</m:t>
                        </m:r>
                        <m:sSup>
                          <m:sSupPr>
                            <m:ctrlP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𝑑𝑥</m:t>
                    </m:r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12</m:t>
                        </m:r>
                        <m:sSup>
                          <m:sSupPr>
                            <m:ctrlP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+4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𝑥𝑦</m:t>
                        </m:r>
                        <m:r>
                          <a:rPr lang="es-ES" sz="2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−12</m:t>
                        </m:r>
                        <m:sSup>
                          <m:sSupPr>
                            <m:ctrlP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  <m:r>
                      <a:rPr lang="es-ES" sz="2200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s-ES" sz="2200" b="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marL="514350" indent="-514350" algn="just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𝑑𝑥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s-E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sup>
                        </m:sSup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s-E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𝑑𝑦</m:t>
                    </m:r>
                    <m:r>
                      <a:rPr lang="es-E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s-ES" sz="2400" b="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s-ES" sz="2400" b="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2 Sub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39552" y="1268760"/>
                <a:ext cx="8280920" cy="4824536"/>
              </a:xfrm>
              <a:blipFill rotWithShape="1">
                <a:blip r:embed="rId2"/>
                <a:stretch>
                  <a:fillRect l="-1178" t="-101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41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869</Words>
  <Application>Microsoft Office PowerPoint</Application>
  <PresentationFormat>Presentación en pantalla (4:3)</PresentationFormat>
  <Paragraphs>88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ECUACIONES DIFERENCIALES DE PRIMER ORDEN</vt:lpstr>
      <vt:lpstr>Ejemplos</vt:lpstr>
      <vt:lpstr>ECUACIÓN SEPARABLE</vt:lpstr>
      <vt:lpstr>MÉTODO DE SOLUCIÓN</vt:lpstr>
      <vt:lpstr>Ejemplo</vt:lpstr>
      <vt:lpstr>ECUACIONES DIFERENCIALES HOMOGÉNEAS</vt:lpstr>
      <vt:lpstr>Ejemplos </vt:lpstr>
      <vt:lpstr>MÉTODO DE SOLUCIÓN</vt:lpstr>
      <vt:lpstr>ECUACIONES DIFERENCIALES EXACTAS</vt:lpstr>
      <vt:lpstr>Presentación de PowerPoint</vt:lpstr>
      <vt:lpstr>Presentación de PowerPoint</vt:lpstr>
      <vt:lpstr>Ejemplo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ECUACIONES DIFERENCIALES DE PRIMER ORDEN</dc:title>
  <dc:creator>Luffi</dc:creator>
  <cp:lastModifiedBy>Luffi</cp:lastModifiedBy>
  <cp:revision>9</cp:revision>
  <dcterms:created xsi:type="dcterms:W3CDTF">2024-08-26T00:36:28Z</dcterms:created>
  <dcterms:modified xsi:type="dcterms:W3CDTF">2025-08-21T12:50:25Z</dcterms:modified>
</cp:coreProperties>
</file>